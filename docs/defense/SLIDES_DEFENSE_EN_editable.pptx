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(15s) So — my internship is about a performance problem buried inside</a:t>
            </a:r>
          </a:p>
          <a:p>
            <a:r>
              <a:t>WireGuard's receive path. One CPU core saturates, throughput collapses, and the</a:t>
            </a:r>
          </a:p>
          <a:p>
            <a:r>
              <a:t>reason turns out to be something surprisingly subtle. I'll walk you through how</a:t>
            </a:r>
          </a:p>
          <a:p>
            <a:r>
              <a:t>the pipeline works, where it breaks, what the fix looks like, and what I</a:t>
            </a:r>
          </a:p>
          <a:p>
            <a:r>
              <a:t>measured. Let's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(45s) WireGuard is known for being fast and simple. But put it on a</a:t>
            </a:r>
          </a:p>
          <a:p>
            <a:r>
              <a:t>server with a thousand clients pushing 25 Gbps, and one core hits 94% utilization</a:t>
            </a:r>
          </a:p>
          <a:p>
            <a:r>
              <a:t>and throughput collapses to 19% of line rate. That's a CPU problem. Mounah et al.</a:t>
            </a:r>
          </a:p>
          <a:p>
            <a:r>
              <a:t>at SYSTOR 2025 found the cause and proposed a fix that recovered 4.7× throughput.</a:t>
            </a:r>
          </a:p>
          <a:p>
            <a:r>
              <a:t>But the root cause is still there: their fix makes each wasted operation cheaper</a:t>
            </a:r>
          </a:p>
          <a:p>
            <a:r>
              <a:t>to run. Mine stops it from running in the first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(1m15s) Three mechanisms cooperate. NAPI is the doorbell: instead of</a:t>
            </a:r>
          </a:p>
          <a:p>
            <a:r>
              <a:t>an interrupt per packet, it rings once, mutes the bell, collects everything in one</a:t>
            </a:r>
          </a:p>
          <a:p>
            <a:r>
              <a:t>pass. Key detail: napi_schedule does NOT run the poll — it sets a flag and raises</a:t>
            </a:r>
          </a:p>
          <a:p>
            <a:r>
              <a:t>a softirq. The workqueue is the decryption workshop: ChaCha20-Poly1305 is heavy,</a:t>
            </a:r>
          </a:p>
          <a:p>
            <a:r>
              <a:t>so it's delegated to background threads, one per core — fast, but they finish OUT</a:t>
            </a:r>
          </a:p>
          <a:p>
            <a:r>
              <a:t>OF ORDER. GRO is the stapler: it batches same-flow packets into one trip. The</a:t>
            </a:r>
          </a:p>
          <a:p>
            <a:r>
              <a:t>seed of the bug: ONE shared workshop, but each peer has its OWN queue and OWN</a:t>
            </a:r>
          </a:p>
          <a:p>
            <a:r>
              <a:t>NAPI.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(1m15s) The full pipeline: receive, decrypt in the workshop, deliver</a:t>
            </a:r>
          </a:p>
          <a:p>
            <a:r>
              <a:t>through NAPI and GRO. Each peer's decrypted packets land in its ordered queue, and</a:t>
            </a:r>
          </a:p>
          <a:p>
            <a:r>
              <a:t>the poll drains it head-first so order is preserved. Now the red box: after every</a:t>
            </a:r>
          </a:p>
          <a:p>
            <a:r>
              <a:t>decrypted packet — unconditionally — every worker rings the peer's NAPI. That</a:t>
            </a:r>
          </a:p>
          <a:p>
            <a:r>
              <a:t>single unconditional call is where the bug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(1m30s) Two facts collide. One: the workshop decrypts out of order.</a:t>
            </a:r>
          </a:p>
          <a:p>
            <a:r>
              <a:t>Two: every worker, when done, calls napi_schedule unconditionally. So a worker</a:t>
            </a:r>
          </a:p>
          <a:p>
            <a:r>
              <a:t>finishes packet 5 and rings the bell; the NAPI wakes, looks at the HEAD — packet 2,</a:t>
            </a:r>
          </a:p>
          <a:p>
            <a:r>
              <a:t>still encrypted — and returns work_done = 0. A wasted softirq pass, and GRO had</a:t>
            </a:r>
          </a:p>
          <a:p>
            <a:r>
              <a:t>nothing to staple, so batching collapses. The math: with N cores, the head</a:t>
            </a:r>
          </a:p>
          <a:p>
            <a:r>
              <a:t>finishes first with probability 1/N, so (N-1)/N of wakes are wasted. It compounds</a:t>
            </a:r>
          </a:p>
          <a:p>
            <a:r>
              <a:t>with peer count. One core saturates at 94%, throughput collapses.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(1m) Six lines: before waking the NAPI, check whether there's anything</a:t>
            </a:r>
          </a:p>
          <a:p>
            <a:r>
              <a:t>to do. Read the consumer cursor; if the head is still uncrypted, skip — the worker</a:t>
            </a:r>
          </a:p>
          <a:p>
            <a:r>
              <a:t>that finishes the head will wake it. Safe because that cursor is written by only</a:t>
            </a:r>
          </a:p>
          <a:p>
            <a:r>
              <a:t>one entity, the poll itself: a lock-free hint. Worst case is a stale read that</a:t>
            </a:r>
          </a:p>
          <a:p>
            <a:r>
              <a:t>misses a wake, and NAPI's internal MISSED mechanism re-runs the poll. No packet is</a:t>
            </a:r>
          </a:p>
          <a:p>
            <a:r>
              <a:t>ever stranded. Result: premature wakes gone, GRO batches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(1m30s) Setup, for credibility: Apple M1, eight cores, multiple peers</a:t>
            </a:r>
          </a:p>
          <a:p>
            <a:r>
              <a:t>from network namespaces over loopback, measured in-kernel with bpftrace, five runs</a:t>
            </a:r>
          </a:p>
          <a:p>
            <a:r>
              <a:t>each. The fix cuts wasted polls 9–22%, and the reduction grows with peer count —</a:t>
            </a:r>
          </a:p>
          <a:p>
            <a:r>
              <a:t>the 1/N model. The batch numbers are the most convincing: at 8 peers each useful</a:t>
            </a:r>
          </a:p>
          <a:p>
            <a:r>
              <a:t>poll goes 8.7 → 9.6 packets. Throughput is flat because loopback never saturates</a:t>
            </a:r>
          </a:p>
          <a:p>
            <a:r>
              <a:t>the softirq — that needs a real NIC, which is what comes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(40s) Three things done. I understood the receive pipeline from the</a:t>
            </a:r>
          </a:p>
          <a:p>
            <a:r>
              <a:t>source. I located the root cause: a single unconditional line that wakes the NAPI</a:t>
            </a:r>
          </a:p>
          <a:p>
            <a:r>
              <a:t>at the wrong moment. And I fixed it in six lines. On ARM I measured 9–22% fewer</a:t>
            </a:r>
          </a:p>
          <a:p>
            <a:r>
              <a:t>wasted polls with batch sizes rising — direct evidence the mechanism works. That's</a:t>
            </a:r>
          </a:p>
          <a:p>
            <a:r>
              <a:t>the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(40s) Clear continuation through July. First, real hardware: CloudLab,</a:t>
            </a:r>
          </a:p>
          <a:p>
            <a:r>
              <a:t>x86 with a 25-gig NIC, to see whether fewer polls turn into real throughput and</a:t>
            </a:r>
          </a:p>
          <a:p>
            <a:r>
              <a:t>whether ARM behavior holds on x86. Second, a smarter batching-aware trigger that</a:t>
            </a:r>
          </a:p>
          <a:p>
            <a:r>
              <a:t>waits until waking pays off. Third, combining my trigger with the SYSTOR paper's</a:t>
            </a:r>
          </a:p>
          <a:p>
            <a:r>
              <a:t>dedicated-workqueue fix — orthogonal, so they should stack.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client is a "peer" — identified by a public key. Each peer gets its</a:t>
            </a:r>
          </a:p>
          <a:p>
            <a:r>
              <a:t>own ordered receive queue (preserving order) and its own NAPI instance, woken by</a:t>
            </a:r>
          </a:p>
          <a:p>
            <a:r>
              <a:t>hand from the decrypt workers. napi_schedule sets a flag and raises a softirq; the</a:t>
            </a:r>
          </a:p>
          <a:p>
            <a:r>
              <a:t>poll runs a moment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Decryption — ChaCha20-Poly1305 — is heavy, and the softirq is borrowed</a:t>
            </a:r>
          </a:p>
          <a:p>
            <a:r>
              <a:t>time. WireGuard delegates to background kernel threads, one per core. Up to 8</a:t>
            </a:r>
          </a:p>
          <a:p>
            <a:r>
              <a:t>packets from the same peer at once — fast, but out of order. When a worker finishes</a:t>
            </a:r>
          </a:p>
          <a:p>
            <a:r>
              <a:t>it calls napi_schedule. Every worker, after every packet, unconditionally.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 — Generic Receive Offload — is the optimization the bug destroys.</a:t>
            </a:r>
          </a:p>
          <a:p>
            <a:r>
              <a:t>Traversing the stack has a fixed per-packet cost; with 40 same-flow packets it's</a:t>
            </a:r>
          </a:p>
          <a:p>
            <a:r>
              <a:t>far better to staple them and traverse once. When GRO works you get big batches;</a:t>
            </a:r>
          </a:p>
          <a:p>
            <a:r>
              <a:t>when something wakes it for nothing, the batches fall apart.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It's not N workqueues — one object, allocated once. "Per-CPU" describes</a:t>
            </a:r>
          </a:p>
          <a:p>
            <a:r>
              <a:t>the workers: each core gets one, and WireGuard uses queue_work_on to pin each</a:t>
            </a:r>
          </a:p>
          <a:p>
            <a:r>
              <a:t>packet to a specific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lifecycle in seven steps. The one people get wrong is</a:t>
            </a:r>
          </a:p>
          <a:p>
            <a:r>
              <a:t>napi_schedule: it doesn't run anything. It sets a bit and raises NET_RX_SOFTIRQ.</a:t>
            </a:r>
          </a:p>
          <a:p>
            <a:r>
              <a:t>The poll runs at the next spin_unlock_bh at the end of each loop iteration — almost</a:t>
            </a:r>
          </a:p>
          <a:p>
            <a:r>
              <a:t>immediately, but not synchronously.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line of bpftrace traces the return value of wg_packet_rx_poll —</a:t>
            </a:r>
          </a:p>
          <a:p>
            <a:r>
              <a:t>work_done, the packets delivered per pass. A histogram tells the whole story: if</a:t>
            </a:r>
          </a:p>
          <a:p>
            <a:r>
              <a:t>the EoI is happening, a massive spike at zero. The fix makes that spike disappear</a:t>
            </a:r>
          </a:p>
          <a:p>
            <a:r>
              <a:t>and pushes mass toward larger values. Architecture-independent — same on ARM and</a:t>
            </a:r>
          </a:p>
          <a:p>
            <a:r>
              <a:t>x86.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E3A8A"/>
                </a:solidFill>
                <a:latin typeface="Helvetica"/>
              </a:rPr>
              <a:t>WireGuard's receive path</a:t>
            </a:r>
          </a:p>
          <a:p>
            <a:pPr algn="ctr">
              <a:spcBef>
                <a:spcPts val="600"/>
              </a:spcBef>
            </a:pPr>
            <a:r>
              <a:rPr sz="2400" b="1" i="0">
                <a:solidFill>
                  <a:srgbClr val="202020"/>
                </a:solidFill>
                <a:latin typeface="Helvetica"/>
              </a:rPr>
              <a:t>Finding and fixing the Execution Order Inversion</a:t>
            </a:r>
          </a:p>
          <a:p>
            <a:pPr algn="ctr">
              <a:spcBef>
                <a:spcPts val="2200"/>
              </a:spcBef>
            </a:pPr>
            <a:r>
              <a:rPr sz="1800" b="0" i="0">
                <a:solidFill>
                  <a:srgbClr val="202020"/>
                </a:solidFill>
                <a:latin typeface="Helvetica"/>
              </a:rPr>
              <a:t>Anas Ait El Hadj — Inria internship (KrakOS)</a:t>
            </a:r>
          </a:p>
          <a:p>
            <a:pPr algn="ctr"/>
            <a:r>
              <a:rPr sz="1800" b="0" i="0">
                <a:solidFill>
                  <a:srgbClr val="202020"/>
                </a:solidFill>
                <a:latin typeface="Helvetica"/>
              </a:rPr>
              <a:t>Supervisors: </a:t>
            </a:r>
            <a:r>
              <a:rPr sz="1800" b="1" i="0">
                <a:solidFill>
                  <a:srgbClr val="202020"/>
                </a:solidFill>
                <a:latin typeface="Helvetica"/>
              </a:rPr>
              <a:t>Alain Tchana</a:t>
            </a:r>
            <a:r>
              <a:rPr sz="1800" b="0" i="0">
                <a:solidFill>
                  <a:srgbClr val="202020"/>
                </a:solidFill>
                <a:latin typeface="Helvetica"/>
              </a:rPr>
              <a:t> · </a:t>
            </a:r>
            <a:r>
              <a:rPr sz="1800" b="1" i="0">
                <a:solidFill>
                  <a:srgbClr val="202020"/>
                </a:solidFill>
                <a:latin typeface="Helvetica"/>
              </a:rPr>
              <a:t>André Freyssinet</a:t>
            </a:r>
          </a:p>
          <a:p>
            <a:pPr algn="ctr">
              <a:spcBef>
                <a:spcPts val="1800"/>
              </a:spcBef>
            </a:pPr>
            <a:r>
              <a:rPr sz="1400" b="0" i="0">
                <a:solidFill>
                  <a:srgbClr val="555555"/>
                </a:solidFill>
                <a:latin typeface="Helvetica"/>
              </a:rPr>
              <a:t>Defense — June 10, 2026 · Salle F117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8A"/>
                </a:solidFill>
                <a:latin typeface="Helvetica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000" b="0" i="0">
                <a:solidFill>
                  <a:srgbClr val="202020"/>
                </a:solidFill>
                <a:latin typeface="Helvetica"/>
              </a:rPr>
              <a:t>•  </a:t>
            </a:r>
            <a:r>
              <a:rPr sz="2000" b="1" i="0">
                <a:solidFill>
                  <a:srgbClr val="202020"/>
                </a:solidFill>
                <a:latin typeface="Helvetica"/>
              </a:rPr>
              <a:t>WireGuard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: modern VPN in the Linux kernel — fast for one client, but on a </a:t>
            </a:r>
            <a:r>
              <a:rPr sz="2000" b="1" i="0">
                <a:solidFill>
                  <a:srgbClr val="202020"/>
                </a:solidFill>
                <a:latin typeface="Helvetica"/>
              </a:rPr>
              <a:t>server with 1,000 clients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 it reaches only </a:t>
            </a:r>
            <a:r>
              <a:rPr sz="2000" b="1" i="0">
                <a:solidFill>
                  <a:srgbClr val="202020"/>
                </a:solidFill>
                <a:latin typeface="Helvetica"/>
              </a:rPr>
              <a:t>19.2% of line rate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000" b="0" i="0">
                <a:solidFill>
                  <a:srgbClr val="202020"/>
                </a:solidFill>
                <a:latin typeface="Helvetica"/>
              </a:rPr>
              <a:t>•  Prior work (Mounah </a:t>
            </a:r>
            <a:r>
              <a:rPr sz="2000" b="0" i="1">
                <a:solidFill>
                  <a:srgbClr val="202020"/>
                </a:solidFill>
                <a:latin typeface="Helvetica"/>
              </a:rPr>
              <a:t>et al.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, SYSTOR 2025): found the cause (</a:t>
            </a:r>
            <a:r>
              <a:rPr sz="2000" b="1" i="0">
                <a:solidFill>
                  <a:srgbClr val="202020"/>
                </a:solidFill>
                <a:latin typeface="Helvetica"/>
              </a:rPr>
              <a:t>Execution Order Inversion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) and proposed a fix → </a:t>
            </a:r>
            <a:r>
              <a:rPr sz="2000" b="1" i="0">
                <a:solidFill>
                  <a:srgbClr val="202020"/>
                </a:solidFill>
                <a:latin typeface="Helvetica"/>
              </a:rPr>
              <a:t>4.7× throughput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. But that fix is </a:t>
            </a:r>
            <a:r>
              <a:rPr sz="2000" b="1" i="0">
                <a:solidFill>
                  <a:srgbClr val="202020"/>
                </a:solidFill>
                <a:latin typeface="Helvetica"/>
              </a:rPr>
              <a:t>incomplete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: it makes each wasted operation cheaper, not less frequent.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000" b="0" i="0">
                <a:solidFill>
                  <a:srgbClr val="202020"/>
                </a:solidFill>
                <a:latin typeface="Helvetica"/>
              </a:rPr>
              <a:t>•  </a:t>
            </a:r>
            <a:r>
              <a:rPr sz="2000" b="1" i="0">
                <a:solidFill>
                  <a:srgbClr val="202020"/>
                </a:solidFill>
                <a:latin typeface="Helvetica"/>
              </a:rPr>
              <a:t>My work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: understand the receive pipeline from the source code, identify the root cause of the EoI, and fix it at the trigger.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8A"/>
                </a:solidFill>
                <a:latin typeface="Helvetica"/>
              </a:rPr>
              <a:t>The three kernel engines</a:t>
            </a:r>
          </a:p>
        </p:txBody>
      </p:sp>
      <p:pic>
        <p:nvPicPr>
          <p:cNvPr id="3" name="Picture 2" descr="slide_engine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554480"/>
            <a:ext cx="10607040" cy="37226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8A"/>
                </a:solidFill>
                <a:latin typeface="Helvetica"/>
              </a:rPr>
              <a:t>The pipeline — and where it breaks</a:t>
            </a:r>
          </a:p>
        </p:txBody>
      </p:sp>
      <p:pic>
        <p:nvPicPr>
          <p:cNvPr id="3" name="Picture 2" descr="slide_pipelin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17320"/>
            <a:ext cx="9692640" cy="35378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8064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Helvetica"/>
              </a:rPr>
              <a:t>The flow turns </a:t>
            </a:r>
            <a:r>
              <a:rPr sz="1300" b="1" i="0">
                <a:solidFill>
                  <a:srgbClr val="B91C1C"/>
                </a:solidFill>
                <a:latin typeface="Helvetica"/>
              </a:rPr>
              <a:t>DOWN</a:t>
            </a:r>
            <a:r>
              <a:rPr sz="1300" b="0" i="0">
                <a:solidFill>
                  <a:srgbClr val="555555"/>
                </a:solidFill>
                <a:latin typeface="Helvetica"/>
              </a:rPr>
              <a:t> into the red box — </a:t>
            </a:r>
            <a:r>
              <a:rPr sz="1300" b="1" i="0">
                <a:solidFill>
                  <a:srgbClr val="B91C1C"/>
                </a:solidFill>
                <a:latin typeface="Helvetica"/>
              </a:rPr>
              <a:t>napi_schedule unconditional</a:t>
            </a:r>
            <a:r>
              <a:rPr sz="1300" b="0" i="0">
                <a:solidFill>
                  <a:srgbClr val="555555"/>
                </a:solidFill>
                <a:latin typeface="Helvetica"/>
              </a:rPr>
              <a:t> fires after every completion, regardless of queue state. This is the break point.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8A"/>
                </a:solidFill>
                <a:latin typeface="Helvetica"/>
              </a:rPr>
              <a:t>The bug — Execution Order Inversion</a:t>
            </a:r>
          </a:p>
        </p:txBody>
      </p:sp>
      <p:pic>
        <p:nvPicPr>
          <p:cNvPr id="3" name="Picture 2" descr="bug_zoom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818" y="1554480"/>
            <a:ext cx="652405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8A"/>
                </a:solidFill>
                <a:latin typeface="Helvetica"/>
              </a:rPr>
              <a:t>The fix — 6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 i="0">
                <a:solidFill>
                  <a:srgbClr val="202020"/>
                </a:solidFill>
                <a:latin typeface="Helvetica"/>
              </a:rPr>
              <a:t>Before</a:t>
            </a:r>
            <a:r>
              <a:rPr sz="1900" b="0" i="0">
                <a:solidFill>
                  <a:srgbClr val="202020"/>
                </a:solidFill>
                <a:latin typeface="Helvetica"/>
              </a:rPr>
              <a:t> calling </a:t>
            </a:r>
            <a:r>
              <a:rPr sz="1900" b="0" i="0">
                <a:solidFill>
                  <a:srgbClr val="202020"/>
                </a:solidFill>
                <a:latin typeface="Courier New"/>
              </a:rPr>
              <a:t>napi_schedule</a:t>
            </a:r>
            <a:r>
              <a:rPr sz="1900" b="0" i="0">
                <a:solidFill>
                  <a:srgbClr val="202020"/>
                </a:solidFill>
                <a:latin typeface="Helvetica"/>
              </a:rPr>
              <a:t>, check whether the </a:t>
            </a:r>
            <a:r>
              <a:rPr sz="1900" b="1" i="0">
                <a:solidFill>
                  <a:srgbClr val="202020"/>
                </a:solidFill>
                <a:latin typeface="Helvetica"/>
              </a:rPr>
              <a:t>head of the queue is ready</a:t>
            </a:r>
            <a:r>
              <a:rPr sz="1900" b="0" i="0">
                <a:solidFill>
                  <a:srgbClr val="202020"/>
                </a:solidFill>
                <a:latin typeface="Helvetica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881360" cy="1828800"/>
          </a:xfrm>
          <a:prstGeom prst="rect">
            <a:avLst/>
          </a:prstGeom>
          <a:solidFill>
            <a:srgbClr val="F3F4F6"/>
          </a:solidFill>
          <a:ln>
            <a:solidFill>
              <a:srgbClr val="D0D4DC"/>
            </a:solidFill>
          </a:ln>
        </p:spPr>
        <p:txBody>
          <a:bodyPr wrap="none" lIns="182880" tIns="109728">
            <a:noAutofit/>
          </a:bodyPr>
          <a:lstStyle/>
          <a:p>
            <a:pPr>
              <a:lnSpc>
                <a:spcPct val="105000"/>
              </a:lnSpc>
            </a:pPr>
            <a:r>
              <a:rPr sz="1400" b="0" i="0">
                <a:solidFill>
                  <a:srgbClr val="202020"/>
                </a:solidFill>
                <a:latin typeface="Courier New"/>
              </a:rPr>
              <a:t>tail = READ_ONCE(peer-&gt;rx_queue.tail);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202020"/>
                </a:solidFill>
                <a:latin typeface="Courier New"/>
              </a:rPr>
              <a:t>if (tail == (struct sk_buff *)&amp;peer-&gt;rx_queue.empty ||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202020"/>
                </a:solidFill>
                <a:latin typeface="Courier New"/>
              </a:rPr>
              <a:t>    atomic_read(&amp;PACKET_CB(tail)-&gt;state) != PACKET_STATE_UNCRYPTED)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202020"/>
                </a:solidFill>
                <a:latin typeface="Courier New"/>
              </a:rPr>
              <a:t>        napi_schedule(&amp;peer-&gt;napi);     </a:t>
            </a:r>
            <a:r>
              <a:rPr sz="1400" b="0" i="1">
                <a:solidFill>
                  <a:srgbClr val="6B9BB5"/>
                </a:solidFill>
                <a:latin typeface="Courier New"/>
              </a:rPr>
              <a:t>// otherwise: skip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881360" cy="228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 i="0">
                <a:solidFill>
                  <a:srgbClr val="202020"/>
                </a:solidFill>
                <a:latin typeface="Helvetica"/>
              </a:rPr>
              <a:t>•  </a:t>
            </a:r>
            <a:r>
              <a:rPr sz="1800" b="1" i="0">
                <a:solidFill>
                  <a:srgbClr val="202020"/>
                </a:solidFill>
                <a:latin typeface="Helvetica"/>
              </a:rPr>
              <a:t>Safe:</a:t>
            </a:r>
            <a:r>
              <a:rPr sz="1800" b="0" i="0">
                <a:solidFill>
                  <a:srgbClr val="202020"/>
                </a:solidFill>
                <a:latin typeface="Helvetica"/>
              </a:rPr>
              <a:t> </a:t>
            </a:r>
            <a:r>
              <a:rPr sz="1800" b="0" i="0">
                <a:solidFill>
                  <a:srgbClr val="202020"/>
                </a:solidFill>
                <a:latin typeface="Courier New"/>
              </a:rPr>
              <a:t>tail</a:t>
            </a:r>
            <a:r>
              <a:rPr sz="1800" b="0" i="0">
                <a:solidFill>
                  <a:srgbClr val="202020"/>
                </a:solidFill>
                <a:latin typeface="Helvetica"/>
              </a:rPr>
              <a:t> written only by the single consumer → no race condition.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 i="0">
                <a:solidFill>
                  <a:srgbClr val="202020"/>
                </a:solidFill>
                <a:latin typeface="Helvetica"/>
              </a:rPr>
              <a:t>•  </a:t>
            </a:r>
            <a:r>
              <a:rPr sz="1800" b="1" i="0">
                <a:solidFill>
                  <a:srgbClr val="202020"/>
                </a:solidFill>
                <a:latin typeface="Helvetica"/>
              </a:rPr>
              <a:t>Worst case:</a:t>
            </a:r>
            <a:r>
              <a:rPr sz="1800" b="0" i="0">
                <a:solidFill>
                  <a:srgbClr val="202020"/>
                </a:solidFill>
                <a:latin typeface="Helvetica"/>
              </a:rPr>
              <a:t> stale read → skip one wake → the worker finishing the head wakes it then.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 i="0">
                <a:solidFill>
                  <a:srgbClr val="202020"/>
                </a:solidFill>
                <a:latin typeface="Helvetica"/>
              </a:rPr>
              <a:t>•  </a:t>
            </a:r>
            <a:r>
              <a:rPr sz="1800" b="1" i="0">
                <a:solidFill>
                  <a:srgbClr val="202020"/>
                </a:solidFill>
                <a:latin typeface="Helvetica"/>
              </a:rPr>
              <a:t>Effect:</a:t>
            </a:r>
            <a:r>
              <a:rPr sz="1800" b="0" i="0">
                <a:solidFill>
                  <a:srgbClr val="202020"/>
                </a:solidFill>
                <a:latin typeface="Helvetica"/>
              </a:rPr>
              <a:t> premature wakes disappear → GRO gets full batches 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8A"/>
                </a:solidFill>
                <a:latin typeface="Helvetica"/>
              </a:rPr>
              <a:t>Results — polls down, batches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555555"/>
                </a:solidFill>
                <a:latin typeface="Helvetica"/>
              </a:rPr>
              <a:t>Setup:</a:t>
            </a:r>
            <a:r>
              <a:rPr sz="1300" b="0" i="0">
                <a:solidFill>
                  <a:srgbClr val="555555"/>
                </a:solidFill>
                <a:latin typeface="Helvetica"/>
              </a:rPr>
              <a:t> Apple M1 (8 cores), Linux net namespaces (multi-peer loopback), </a:t>
            </a:r>
            <a:r>
              <a:rPr sz="1300" b="0" i="0">
                <a:solidFill>
                  <a:srgbClr val="555555"/>
                </a:solidFill>
                <a:latin typeface="Courier New"/>
              </a:rPr>
              <a:t>bpftrace</a:t>
            </a:r>
            <a:r>
              <a:rPr sz="1300" b="0" i="0">
                <a:solidFill>
                  <a:srgbClr val="555555"/>
                </a:solidFill>
                <a:latin typeface="Helvetica"/>
              </a:rPr>
              <a:t> for in-kernel metrics — loopback, 5 runs each.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0" y="2148840"/>
          <a:ext cx="92354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103120"/>
                <a:gridCol w="2103120"/>
                <a:gridCol w="2194560"/>
              </a:tblGrid>
              <a:tr h="365760">
                <a:tc>
                  <a:txBody>
                    <a:bodyPr/>
                    <a:lstStyle/>
                    <a:p/>
                  </a:txBody>
                  <a:tcPr anchor="ctr" marT="27432" marB="2743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Helvetica"/>
                        </a:rPr>
                        <a:t>1 peer</a:t>
                      </a:r>
                    </a:p>
                  </a:txBody>
                  <a:tcPr anchor="ctr" marT="27432" marB="2743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Helvetica"/>
                        </a:rPr>
                        <a:t>8 peers</a:t>
                      </a:r>
                    </a:p>
                  </a:txBody>
                  <a:tcPr anchor="ctr" marT="27432" marB="2743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Helvetica"/>
                        </a:rPr>
                        <a:t>32 peers</a:t>
                      </a:r>
                    </a:p>
                  </a:txBody>
                  <a:tcPr anchor="ctr" marT="27432" marB="27432"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02020"/>
                          </a:solidFill>
                          <a:latin typeface="Helvetica"/>
                        </a:rPr>
                        <a:t>Δ wasted polls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02020"/>
                          </a:solidFill>
                          <a:latin typeface="Helvetica"/>
                        </a:rPr>
                        <a:t>−8.8%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02020"/>
                          </a:solidFill>
                          <a:latin typeface="Helvetica"/>
                        </a:rPr>
                        <a:t>−21.9%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202020"/>
                          </a:solidFill>
                          <a:latin typeface="Helvetica"/>
                        </a:rPr>
                        <a:t>−20.7%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02020"/>
                          </a:solidFill>
                          <a:latin typeface="Helvetica"/>
                        </a:rPr>
                        <a:t>Batch size</a:t>
                      </a:r>
                    </a:p>
                  </a:txBody>
                  <a:tcPr anchor="ctr" marT="27432" marB="27432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02020"/>
                          </a:solidFill>
                          <a:latin typeface="Helvetica"/>
                        </a:rPr>
                        <a:t>3.1 → 3.3</a:t>
                      </a:r>
                    </a:p>
                  </a:txBody>
                  <a:tcPr anchor="ctr" marT="27432" marB="27432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02020"/>
                          </a:solidFill>
                          <a:latin typeface="Helvetica"/>
                        </a:rPr>
                        <a:t>8.7 → </a:t>
                      </a:r>
                      <a:r>
                        <a:rPr sz="1600" b="1" i="0">
                          <a:solidFill>
                            <a:srgbClr val="202020"/>
                          </a:solidFill>
                          <a:latin typeface="Helvetica"/>
                        </a:rPr>
                        <a:t>9.6</a:t>
                      </a:r>
                    </a:p>
                  </a:txBody>
                  <a:tcPr anchor="ctr" marT="27432" marB="27432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202020"/>
                          </a:solidFill>
                          <a:latin typeface="Helvetica"/>
                        </a:rPr>
                        <a:t>7.7 → </a:t>
                      </a:r>
                      <a:r>
                        <a:rPr sz="1600" b="1" i="0">
                          <a:solidFill>
                            <a:srgbClr val="202020"/>
                          </a:solidFill>
                          <a:latin typeface="Helvetica"/>
                        </a:rPr>
                        <a:t>8.9</a:t>
                      </a:r>
                    </a:p>
                  </a:txBody>
                  <a:tcPr anchor="ctr" marT="27432" marB="27432">
                    <a:solidFill>
                      <a:srgbClr val="E8EC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023360"/>
            <a:ext cx="10881360" cy="2377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 i="0">
                <a:solidFill>
                  <a:srgbClr val="202020"/>
                </a:solidFill>
                <a:latin typeface="Helvetica"/>
              </a:rPr>
              <a:t>•  The reduction </a:t>
            </a:r>
            <a:r>
              <a:rPr sz="1800" b="1" i="0">
                <a:solidFill>
                  <a:srgbClr val="202020"/>
                </a:solidFill>
                <a:latin typeface="Helvetica"/>
              </a:rPr>
              <a:t>grows with peer count</a:t>
            </a:r>
            <a:r>
              <a:rPr sz="1800" b="0" i="0">
                <a:solidFill>
                  <a:srgbClr val="202020"/>
                </a:solidFill>
                <a:latin typeface="Helvetica"/>
              </a:rPr>
              <a:t> — exactly what the 1/N model predicts.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 i="0">
                <a:solidFill>
                  <a:srgbClr val="202020"/>
                </a:solidFill>
                <a:latin typeface="Helvetica"/>
              </a:rPr>
              <a:t>•  </a:t>
            </a:r>
            <a:r>
              <a:rPr sz="1800" b="1" i="0">
                <a:solidFill>
                  <a:srgbClr val="202020"/>
                </a:solidFill>
                <a:latin typeface="Helvetica"/>
              </a:rPr>
              <a:t>Batch size rising</a:t>
            </a:r>
            <a:r>
              <a:rPr sz="1800" b="0" i="0">
                <a:solidFill>
                  <a:srgbClr val="202020"/>
                </a:solidFill>
                <a:latin typeface="Helvetica"/>
              </a:rPr>
              <a:t> is the direct confirmation: GRO is woken less but does more each time.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0" i="0">
                <a:solidFill>
                  <a:srgbClr val="202020"/>
                </a:solidFill>
                <a:latin typeface="Helvetica"/>
              </a:rPr>
              <a:t>•  Throughput flat — expected, the loopback never saturates </a:t>
            </a:r>
            <a:r>
              <a:rPr sz="1800" b="0" i="0">
                <a:solidFill>
                  <a:srgbClr val="202020"/>
                </a:solidFill>
                <a:latin typeface="Courier New"/>
              </a:rPr>
              <a:t>NET_RX_SOFTIRQ</a:t>
            </a:r>
            <a:r>
              <a:rPr sz="1800" b="0" i="0">
                <a:solidFill>
                  <a:srgbClr val="202020"/>
                </a:solidFill>
                <a:latin typeface="Helvetica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8A"/>
                </a:solidFill>
                <a:latin typeface="Helvetica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000" b="0" i="0">
                <a:solidFill>
                  <a:srgbClr val="202020"/>
                </a:solidFill>
                <a:latin typeface="Helvetica"/>
              </a:rPr>
              <a:t>•  </a:t>
            </a:r>
            <a:r>
              <a:rPr sz="2000" b="1" i="0">
                <a:solidFill>
                  <a:srgbClr val="202020"/>
                </a:solidFill>
                <a:latin typeface="Helvetica"/>
              </a:rPr>
              <a:t>Understood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 the receive pipeline from the source: NAPI, the per-CPU workqueue, GRO.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000" b="0" i="0">
                <a:solidFill>
                  <a:srgbClr val="202020"/>
                </a:solidFill>
                <a:latin typeface="Helvetica"/>
              </a:rPr>
              <a:t>•  </a:t>
            </a:r>
            <a:r>
              <a:rPr sz="2000" b="1" i="0">
                <a:solidFill>
                  <a:srgbClr val="202020"/>
                </a:solidFill>
                <a:latin typeface="Helvetica"/>
              </a:rPr>
              <a:t>Located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 the root cause — one unconditional line (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queueing.h:196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) that wakes the wrong thing at the wrong time.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000" b="0" i="0">
                <a:solidFill>
                  <a:srgbClr val="202020"/>
                </a:solidFill>
                <a:latin typeface="Helvetica"/>
              </a:rPr>
              <a:t>•  </a:t>
            </a:r>
            <a:r>
              <a:rPr sz="2000" b="1" i="0">
                <a:solidFill>
                  <a:srgbClr val="202020"/>
                </a:solidFill>
                <a:latin typeface="Helvetica"/>
              </a:rPr>
              <a:t>Fixed it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 in </a:t>
            </a:r>
            <a:r>
              <a:rPr sz="2000" b="1" i="0">
                <a:solidFill>
                  <a:srgbClr val="202020"/>
                </a:solidFill>
                <a:latin typeface="Helvetica"/>
              </a:rPr>
              <a:t>6 lines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: read the queue head before waking, skip the premature wake.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000" b="0" i="0">
                <a:solidFill>
                  <a:srgbClr val="202020"/>
                </a:solidFill>
                <a:latin typeface="Helvetica"/>
              </a:rPr>
              <a:t>•  </a:t>
            </a:r>
            <a:r>
              <a:rPr sz="2000" b="1" i="0">
                <a:solidFill>
                  <a:srgbClr val="202020"/>
                </a:solidFill>
                <a:latin typeface="Helvetica"/>
              </a:rPr>
              <a:t>Confirmed on ARM: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 </a:t>
            </a:r>
            <a:r>
              <a:rPr sz="2000" b="1" i="0">
                <a:solidFill>
                  <a:srgbClr val="202020"/>
                </a:solidFill>
                <a:latin typeface="Helvetica"/>
              </a:rPr>
              <a:t>9–22% fewer wasted polls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, and </a:t>
            </a:r>
            <a:r>
              <a:rPr sz="2000" b="1" i="0">
                <a:solidFill>
                  <a:srgbClr val="202020"/>
                </a:solidFill>
                <a:latin typeface="Helvetica"/>
              </a:rPr>
              <a:t>batch size up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 — direct evidence the mechanism works.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8A"/>
                </a:solidFill>
                <a:latin typeface="Helvetica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1" i="0">
                <a:solidFill>
                  <a:srgbClr val="202020"/>
                </a:solidFill>
                <a:latin typeface="Helvetica"/>
              </a:rPr>
              <a:t>The internship continues through July.</a:t>
            </a:r>
            <a:r>
              <a:rPr sz="1900" b="0" i="0">
                <a:solidFill>
                  <a:srgbClr val="202020"/>
                </a:solidFill>
                <a:latin typeface="Helvetica"/>
              </a:rPr>
              <a:t> Three directions: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0" i="0">
                <a:solidFill>
                  <a:srgbClr val="202020"/>
                </a:solidFill>
                <a:latin typeface="Helvetica"/>
              </a:rPr>
              <a:t>1. </a:t>
            </a:r>
            <a:r>
              <a:rPr sz="1900" b="1" i="0">
                <a:solidFill>
                  <a:srgbClr val="202020"/>
                </a:solidFill>
                <a:latin typeface="Helvetica"/>
              </a:rPr>
              <a:t>Real hardware (CloudLab)</a:t>
            </a:r>
            <a:r>
              <a:rPr sz="1900" b="0" i="0">
                <a:solidFill>
                  <a:srgbClr val="202020"/>
                </a:solidFill>
                <a:latin typeface="Helvetica"/>
              </a:rPr>
              <a:t> — x86, 25G NIC, 1,000 peers. Does the fix reduce </a:t>
            </a:r>
            <a:r>
              <a:rPr sz="1900" b="1" i="0">
                <a:solidFill>
                  <a:srgbClr val="202020"/>
                </a:solidFill>
                <a:latin typeface="Helvetica"/>
              </a:rPr>
              <a:t>throughput collapse</a:t>
            </a:r>
            <a:r>
              <a:rPr sz="1900" b="0" i="0">
                <a:solidFill>
                  <a:srgbClr val="202020"/>
                </a:solidFill>
                <a:latin typeface="Helvetica"/>
              </a:rPr>
              <a:t>, not just poll counts? Does ARM behavior reproduce on x86?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0" i="0">
                <a:solidFill>
                  <a:srgbClr val="202020"/>
                </a:solidFill>
                <a:latin typeface="Helvetica"/>
              </a:rPr>
              <a:t>2. </a:t>
            </a:r>
            <a:r>
              <a:rPr sz="1900" b="1" i="0">
                <a:solidFill>
                  <a:srgbClr val="202020"/>
                </a:solidFill>
                <a:latin typeface="Helvetica"/>
              </a:rPr>
              <a:t>A batching-aware trigger</a:t>
            </a:r>
            <a:r>
              <a:rPr sz="1900" b="0" i="0">
                <a:solidFill>
                  <a:srgbClr val="202020"/>
                </a:solidFill>
                <a:latin typeface="Helvetica"/>
              </a:rPr>
              <a:t> — wake only when waking </a:t>
            </a:r>
            <a:r>
              <a:rPr sz="1900" b="0" i="1">
                <a:solidFill>
                  <a:srgbClr val="202020"/>
                </a:solidFill>
                <a:latin typeface="Helvetica"/>
              </a:rPr>
              <a:t>pays off</a:t>
            </a:r>
            <a:r>
              <a:rPr sz="1900" b="0" i="0">
                <a:solidFill>
                  <a:srgbClr val="202020"/>
                </a:solidFill>
                <a:latin typeface="Helvetica"/>
              </a:rPr>
              <a:t> (measure poll overhead vs. delivery + copy-to-userspace cost).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900" b="0" i="0">
                <a:solidFill>
                  <a:srgbClr val="202020"/>
                </a:solidFill>
                <a:latin typeface="Helvetica"/>
              </a:rPr>
              <a:t>3. </a:t>
            </a:r>
            <a:r>
              <a:rPr sz="1900" b="1" i="0">
                <a:solidFill>
                  <a:srgbClr val="202020"/>
                </a:solidFill>
                <a:latin typeface="Helvetica"/>
              </a:rPr>
              <a:t>Combine with the SYSTOR fix</a:t>
            </a:r>
            <a:r>
              <a:rPr sz="1900" b="0" i="0">
                <a:solidFill>
                  <a:srgbClr val="202020"/>
                </a:solidFill>
                <a:latin typeface="Helvetica"/>
              </a:rPr>
              <a:t> — orthogonal, should be additive.</a:t>
            </a:r>
          </a:p>
          <a:p>
            <a:pPr>
              <a:spcBef>
                <a:spcPts val="1400"/>
              </a:spcBef>
            </a:pPr>
            <a:r>
              <a:rPr sz="1400" b="0" i="0">
                <a:solidFill>
                  <a:srgbClr val="555555"/>
                </a:solidFill>
                <a:latin typeface="Helvetica"/>
              </a:rPr>
              <a:t>Thank you — questions?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555555"/>
                </a:solidFill>
                <a:latin typeface="Helvetica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8A"/>
                </a:solidFill>
                <a:latin typeface="Helvetica"/>
              </a:rPr>
              <a:t>Appendix A — Stage 1: the peer and NAPI</a:t>
            </a:r>
          </a:p>
        </p:txBody>
      </p:sp>
      <p:pic>
        <p:nvPicPr>
          <p:cNvPr id="4" name="Picture 3" descr="slide_napi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414" y="1325880"/>
            <a:ext cx="6290867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692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Helvetica"/>
              </a:rPr>
              <a:t>Each client = one </a:t>
            </a:r>
            <a:r>
              <a:rPr sz="1300" b="1" i="0">
                <a:solidFill>
                  <a:srgbClr val="555555"/>
                </a:solidFill>
                <a:latin typeface="Helvetica"/>
              </a:rPr>
              <a:t>peer</a:t>
            </a:r>
            <a:r>
              <a:rPr sz="1300" b="0" i="0">
                <a:solidFill>
                  <a:srgbClr val="555555"/>
                </a:solidFill>
                <a:latin typeface="Helvetica"/>
              </a:rPr>
              <a:t> with its </a:t>
            </a:r>
            <a:r>
              <a:rPr sz="1300" b="1" i="0">
                <a:solidFill>
                  <a:srgbClr val="555555"/>
                </a:solidFill>
                <a:latin typeface="Helvetica"/>
              </a:rPr>
              <a:t>own ordered queue</a:t>
            </a:r>
            <a:r>
              <a:rPr sz="1300" b="0" i="0">
                <a:solidFill>
                  <a:srgbClr val="555555"/>
                </a:solidFill>
                <a:latin typeface="Helvetica"/>
              </a:rPr>
              <a:t> and its </a:t>
            </a:r>
            <a:r>
              <a:rPr sz="1300" b="1" i="0">
                <a:solidFill>
                  <a:srgbClr val="555555"/>
                </a:solidFill>
                <a:latin typeface="Helvetica"/>
              </a:rPr>
              <a:t>own NAPI</a:t>
            </a:r>
            <a:r>
              <a:rPr sz="1300" b="0" i="0">
                <a:solidFill>
                  <a:srgbClr val="555555"/>
                </a:solidFill>
                <a:latin typeface="Helvetica"/>
              </a:rPr>
              <a:t>. One shared decryption workshop for all peers.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555555"/>
                </a:solidFill>
                <a:latin typeface="Helvetica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8A"/>
                </a:solidFill>
                <a:latin typeface="Helvetica"/>
              </a:rPr>
              <a:t>Appendix B — Stage 2: the workqueue</a:t>
            </a:r>
          </a:p>
        </p:txBody>
      </p:sp>
      <p:pic>
        <p:nvPicPr>
          <p:cNvPr id="4" name="Picture 3" descr="slide_wq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466" y="1325880"/>
            <a:ext cx="8074763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692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Helvetica"/>
              </a:rPr>
              <a:t>Decryption is too heavy for the softirq → delegated to a </a:t>
            </a:r>
            <a:r>
              <a:rPr sz="1300" b="1" i="0">
                <a:solidFill>
                  <a:srgbClr val="555555"/>
                </a:solidFill>
                <a:latin typeface="Helvetica"/>
              </a:rPr>
              <a:t>background pool</a:t>
            </a:r>
            <a:r>
              <a:rPr sz="1300" b="0" i="0">
                <a:solidFill>
                  <a:srgbClr val="555555"/>
                </a:solidFill>
                <a:latin typeface="Helvetica"/>
              </a:rPr>
              <a:t>. One worker per core → decrypts </a:t>
            </a:r>
            <a:r>
              <a:rPr sz="1300" b="1" i="0">
                <a:solidFill>
                  <a:srgbClr val="555555"/>
                </a:solidFill>
                <a:latin typeface="Helvetica"/>
              </a:rPr>
              <a:t>in parallel</a:t>
            </a:r>
            <a:r>
              <a:rPr sz="1300" b="0" i="0">
                <a:solidFill>
                  <a:srgbClr val="555555"/>
                </a:solidFill>
                <a:latin typeface="Helvetica"/>
              </a:rPr>
              <a:t> → finishes </a:t>
            </a:r>
            <a:r>
              <a:rPr sz="1300" b="1" i="0">
                <a:solidFill>
                  <a:srgbClr val="555555"/>
                </a:solidFill>
                <a:latin typeface="Helvetica"/>
              </a:rPr>
              <a:t>out of order</a:t>
            </a:r>
            <a:r>
              <a:rPr sz="1300" b="0" i="0">
                <a:solidFill>
                  <a:srgbClr val="555555"/>
                </a:solidFill>
                <a:latin typeface="Helvetica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555555"/>
                </a:solidFill>
                <a:latin typeface="Helvetica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8A"/>
                </a:solidFill>
                <a:latin typeface="Helvetica"/>
              </a:rPr>
              <a:t>Appendix C — Stage 3: GRO</a:t>
            </a:r>
          </a:p>
        </p:txBody>
      </p:sp>
      <p:pic>
        <p:nvPicPr>
          <p:cNvPr id="4" name="Picture 3" descr="slide_gro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829" y="1325880"/>
            <a:ext cx="5268036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692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Helvetica"/>
              </a:rPr>
              <a:t>Pushing a packet up the stack has a </a:t>
            </a:r>
            <a:r>
              <a:rPr sz="1300" b="1" i="0">
                <a:solidFill>
                  <a:srgbClr val="555555"/>
                </a:solidFill>
                <a:latin typeface="Helvetica"/>
              </a:rPr>
              <a:t>fixed cost per packet</a:t>
            </a:r>
            <a:r>
              <a:rPr sz="1300" b="0" i="0">
                <a:solidFill>
                  <a:srgbClr val="555555"/>
                </a:solidFill>
                <a:latin typeface="Helvetica"/>
              </a:rPr>
              <a:t> → GRO </a:t>
            </a:r>
            <a:r>
              <a:rPr sz="1300" b="1" i="0">
                <a:solidFill>
                  <a:srgbClr val="555555"/>
                </a:solidFill>
                <a:latin typeface="Helvetica"/>
              </a:rPr>
              <a:t>staples packets into one parcel</a:t>
            </a:r>
            <a:r>
              <a:rPr sz="1300" b="0" i="0">
                <a:solidFill>
                  <a:srgbClr val="555555"/>
                </a:solidFill>
                <a:latin typeface="Helvetica"/>
              </a:rPr>
              <a:t> → one trip instead of 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555555"/>
                </a:solidFill>
                <a:latin typeface="Helvetica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8A"/>
                </a:solidFill>
                <a:latin typeface="Helvetica"/>
              </a:rPr>
              <a:t>Appendix D — one workqueue, per-CPU workers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000" b="0" i="0">
                <a:solidFill>
                  <a:srgbClr val="202020"/>
                </a:solidFill>
                <a:latin typeface="Helvetica"/>
              </a:rPr>
              <a:t>•  </a:t>
            </a:r>
            <a:r>
              <a:rPr sz="2000" b="1" i="0">
                <a:solidFill>
                  <a:srgbClr val="202020"/>
                </a:solidFill>
                <a:latin typeface="Helvetica"/>
              </a:rPr>
              <a:t>One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 workqueue object (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packet_crypt_wq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,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device.c:346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), shared by all peers.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000" b="0" i="0">
                <a:solidFill>
                  <a:srgbClr val="202020"/>
                </a:solidFill>
                <a:latin typeface="Helvetica"/>
              </a:rPr>
              <a:t>•  </a:t>
            </a:r>
            <a:r>
              <a:rPr sz="2000" b="1" i="0">
                <a:solidFill>
                  <a:srgbClr val="202020"/>
                </a:solidFill>
                <a:latin typeface="Helvetica"/>
              </a:rPr>
              <a:t>Per-CPU = the *workers* are per core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: </a:t>
            </a:r>
            <a:r>
              <a:rPr sz="2000" b="0" i="0">
                <a:solidFill>
                  <a:srgbClr val="202020"/>
                </a:solidFill>
                <a:latin typeface="Courier New"/>
              </a:rPr>
              <a:t>queue_work_on(cpu, …)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 dispatches each item to a specific core. It is </a:t>
            </a:r>
            <a:r>
              <a:rPr sz="2000" b="1" i="0">
                <a:solidFill>
                  <a:srgbClr val="202020"/>
                </a:solidFill>
                <a:latin typeface="Helvetica"/>
              </a:rPr>
              <a:t>not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 N workqueues.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555555"/>
                </a:solidFill>
                <a:latin typeface="Helvetica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8A"/>
                </a:solidFill>
                <a:latin typeface="Helvetica"/>
              </a:rPr>
              <a:t>Appendix E — NAPI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 b="0" i="0">
                <a:solidFill>
                  <a:srgbClr val="202020"/>
                </a:solidFill>
                <a:latin typeface="Courier New"/>
              </a:rPr>
              <a:t>netif_napi_add</a:t>
            </a:r>
            <a:r>
              <a:rPr sz="1800" b="0" i="0">
                <a:solidFill>
                  <a:srgbClr val="202020"/>
                </a:solidFill>
                <a:latin typeface="Helvetica"/>
              </a:rPr>
              <a:t> → </a:t>
            </a:r>
            <a:r>
              <a:rPr sz="1800" b="0" i="0">
                <a:solidFill>
                  <a:srgbClr val="202020"/>
                </a:solidFill>
                <a:latin typeface="Courier New"/>
              </a:rPr>
              <a:t>napi_enable</a:t>
            </a:r>
            <a:r>
              <a:rPr sz="1800" b="0" i="0">
                <a:solidFill>
                  <a:srgbClr val="202020"/>
                </a:solidFill>
                <a:latin typeface="Helvetica"/>
              </a:rPr>
              <a:t> → </a:t>
            </a:r>
            <a:r>
              <a:rPr sz="1800" b="0" i="0">
                <a:solidFill>
                  <a:srgbClr val="202020"/>
                </a:solidFill>
                <a:latin typeface="Courier New"/>
              </a:rPr>
              <a:t>napi_schedule</a:t>
            </a:r>
            <a:r>
              <a:rPr sz="1800" b="0" i="0">
                <a:solidFill>
                  <a:srgbClr val="202020"/>
                </a:solidFill>
                <a:latin typeface="Helvetica"/>
              </a:rPr>
              <a:t> (sets flag + raises softirq, </a:t>
            </a:r>
            <a:r>
              <a:rPr sz="1800" b="1" i="0">
                <a:solidFill>
                  <a:srgbClr val="202020"/>
                </a:solidFill>
                <a:latin typeface="Helvetica"/>
              </a:rPr>
              <a:t>nothing runs yet</a:t>
            </a:r>
            <a:r>
              <a:rPr sz="1800" b="0" i="0">
                <a:solidFill>
                  <a:srgbClr val="202020"/>
                </a:solidFill>
                <a:latin typeface="Helvetica"/>
              </a:rPr>
              <a:t>)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 b="0" i="0">
                <a:solidFill>
                  <a:srgbClr val="202020"/>
                </a:solidFill>
                <a:latin typeface="Helvetica"/>
              </a:rPr>
              <a:t>→ </a:t>
            </a:r>
            <a:r>
              <a:rPr sz="1800" b="0" i="0">
                <a:solidFill>
                  <a:srgbClr val="202020"/>
                </a:solidFill>
                <a:latin typeface="Courier New"/>
              </a:rPr>
              <a:t>wg_packet_rx_poll</a:t>
            </a:r>
            <a:r>
              <a:rPr sz="1800" b="0" i="0">
                <a:solidFill>
                  <a:srgbClr val="202020"/>
                </a:solidFill>
                <a:latin typeface="Helvetica"/>
              </a:rPr>
              <a:t> → </a:t>
            </a:r>
            <a:r>
              <a:rPr sz="1800" b="0" i="0">
                <a:solidFill>
                  <a:srgbClr val="202020"/>
                </a:solidFill>
                <a:latin typeface="Courier New"/>
              </a:rPr>
              <a:t>napi_complete_done</a:t>
            </a:r>
            <a:r>
              <a:rPr sz="1800" b="0" i="0">
                <a:solidFill>
                  <a:srgbClr val="202020"/>
                </a:solidFill>
                <a:latin typeface="Helvetica"/>
              </a:rPr>
              <a:t> → </a:t>
            </a:r>
            <a:r>
              <a:rPr sz="1800" b="0" i="0">
                <a:solidFill>
                  <a:srgbClr val="202020"/>
                </a:solidFill>
                <a:latin typeface="Courier New"/>
              </a:rPr>
              <a:t>napi_disable</a:t>
            </a:r>
            <a:r>
              <a:rPr sz="1800" b="0" i="0">
                <a:solidFill>
                  <a:srgbClr val="202020"/>
                </a:solidFill>
                <a:latin typeface="Helvetica"/>
              </a:rPr>
              <a:t> → </a:t>
            </a:r>
            <a:r>
              <a:rPr sz="1800" b="0" i="0">
                <a:solidFill>
                  <a:srgbClr val="202020"/>
                </a:solidFill>
                <a:latin typeface="Courier New"/>
              </a:rPr>
              <a:t>netif_napi_del</a:t>
            </a:r>
          </a:p>
          <a:p>
            <a:pPr>
              <a:spcBef>
                <a:spcPts val="1600"/>
              </a:spcBef>
            </a:pPr>
            <a:r>
              <a:rPr sz="1800" b="0" i="0">
                <a:solidFill>
                  <a:srgbClr val="202020"/>
                </a:solidFill>
                <a:latin typeface="Helvetica"/>
              </a:rPr>
              <a:t>The poll runs at the next </a:t>
            </a:r>
            <a:r>
              <a:rPr sz="1800" b="0" i="0">
                <a:solidFill>
                  <a:srgbClr val="202020"/>
                </a:solidFill>
                <a:latin typeface="Courier New"/>
              </a:rPr>
              <a:t>spin_unlock_bh</a:t>
            </a:r>
            <a:r>
              <a:rPr sz="1800" b="0" i="0">
                <a:solidFill>
                  <a:srgbClr val="202020"/>
                </a:solidFill>
                <a:latin typeface="Helvetica"/>
              </a:rPr>
              <a:t> in the worker loop — not immediately.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555555"/>
                </a:solidFill>
                <a:latin typeface="Helvetica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8A"/>
                </a:solidFill>
                <a:latin typeface="Helvetica"/>
              </a:rPr>
              <a:t>Appendix F — Full results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468880"/>
                <a:gridCol w="2468880"/>
                <a:gridCol w="201168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Helvetica"/>
                        </a:rPr>
                        <a:t>peers</a:t>
                      </a:r>
                    </a:p>
                  </a:txBody>
                  <a:tcPr anchor="ctr" marT="27432" marB="2743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Helvetica"/>
                        </a:rPr>
                        <a:t>build</a:t>
                      </a:r>
                    </a:p>
                  </a:txBody>
                  <a:tcPr anchor="ctr" marT="27432" marB="2743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Helvetica"/>
                        </a:rPr>
                        <a:t>wasted/s</a:t>
                      </a:r>
                    </a:p>
                  </a:txBody>
                  <a:tcPr anchor="ctr" marT="27432" marB="2743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Helvetica"/>
                        </a:rPr>
                        <a:t>waste%</a:t>
                      </a:r>
                    </a:p>
                  </a:txBody>
                  <a:tcPr anchor="ctr" marT="27432" marB="2743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Helvetica"/>
                        </a:rPr>
                        <a:t>batch</a:t>
                      </a:r>
                    </a:p>
                  </a:txBody>
                  <a:tcPr anchor="ctr" marT="27432" marB="2743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Helvetica"/>
                        </a:rPr>
                        <a:t>Δwasted</a:t>
                      </a:r>
                    </a:p>
                  </a:txBody>
                  <a:tcPr anchor="ctr" marT="27432" marB="27432"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stock / patched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42,638 / 38,872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25.1 / 24.9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3.1 / 3.3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−8.8%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anchor="ctr" marT="27432" marB="27432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stock / patched</a:t>
                      </a:r>
                    </a:p>
                  </a:txBody>
                  <a:tcPr anchor="ctr" marT="27432" marB="27432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33,652 / 30,512</a:t>
                      </a:r>
                    </a:p>
                  </a:txBody>
                  <a:tcPr anchor="ctr" marT="27432" marB="27432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29.7 / 28.5</a:t>
                      </a:r>
                    </a:p>
                  </a:txBody>
                  <a:tcPr anchor="ctr" marT="27432" marB="27432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14.2 / 15.0</a:t>
                      </a:r>
                    </a:p>
                  </a:txBody>
                  <a:tcPr anchor="ctr" marT="27432" marB="27432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−9.3%</a:t>
                      </a:r>
                    </a:p>
                  </a:txBody>
                  <a:tcPr anchor="ctr" marT="27432" marB="27432">
                    <a:solidFill>
                      <a:srgbClr val="E8EC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8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stock / patched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64,318 / 50,217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29.2 / 28.2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8.7 / 9.6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−21.9%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16</a:t>
                      </a:r>
                    </a:p>
                  </a:txBody>
                  <a:tcPr anchor="ctr" marT="27432" marB="27432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stock / patched</a:t>
                      </a:r>
                    </a:p>
                  </a:txBody>
                  <a:tcPr anchor="ctr" marT="27432" marB="27432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50,788 / 44,480</a:t>
                      </a:r>
                    </a:p>
                  </a:txBody>
                  <a:tcPr anchor="ctr" marT="27432" marB="27432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28.5 / 28.2</a:t>
                      </a:r>
                    </a:p>
                  </a:txBody>
                  <a:tcPr anchor="ctr" marT="27432" marB="27432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9.9 / 11.6</a:t>
                      </a:r>
                    </a:p>
                  </a:txBody>
                  <a:tcPr anchor="ctr" marT="27432" marB="27432"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−12.4%</a:t>
                      </a:r>
                    </a:p>
                  </a:txBody>
                  <a:tcPr anchor="ctr" marT="27432" marB="27432">
                    <a:solidFill>
                      <a:srgbClr val="E8EC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32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stock / patched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64,987 / 51,553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28.8 / 27.5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7.7 / 8.9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02020"/>
                          </a:solidFill>
                          <a:latin typeface="Helvetica"/>
                        </a:rPr>
                        <a:t>−20.7%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555555"/>
                </a:solidFill>
                <a:latin typeface="Helvetica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8A"/>
                </a:solidFill>
                <a:latin typeface="Helvetica"/>
              </a:rPr>
              <a:t>Appendix G — bpftrace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731520"/>
          </a:xfrm>
          <a:prstGeom prst="rect">
            <a:avLst/>
          </a:prstGeom>
          <a:solidFill>
            <a:srgbClr val="F3F4F6"/>
          </a:solidFill>
          <a:ln>
            <a:solidFill>
              <a:srgbClr val="D0D4DC"/>
            </a:solidFill>
          </a:ln>
        </p:spPr>
        <p:txBody>
          <a:bodyPr wrap="none" lIns="182880" tIns="109728">
            <a:noAutofit/>
          </a:bodyPr>
          <a:lstStyle/>
          <a:p>
            <a:pPr>
              <a:lnSpc>
                <a:spcPct val="105000"/>
              </a:lnSpc>
            </a:pPr>
            <a:r>
              <a:rPr sz="1400" b="0" i="0">
                <a:solidFill>
                  <a:srgbClr val="202020"/>
                </a:solidFill>
                <a:latin typeface="Courier New"/>
              </a:rPr>
              <a:t>kretprobe:wg_packet_rx_poll { @work_done = lhist(retval, 0, 64, 8);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88136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000" b="0" i="0">
                <a:solidFill>
                  <a:srgbClr val="202020"/>
                </a:solidFill>
                <a:latin typeface="Helvetica"/>
              </a:rPr>
              <a:t>•  </a:t>
            </a:r>
            <a:r>
              <a:rPr sz="2000" b="1" i="0">
                <a:solidFill>
                  <a:srgbClr val="202020"/>
                </a:solidFill>
                <a:latin typeface="Helvetica"/>
              </a:rPr>
              <a:t>Spike in bucket 0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 = wasted wakes (EoI signature).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2000" b="0" i="0">
                <a:solidFill>
                  <a:srgbClr val="202020"/>
                </a:solidFill>
                <a:latin typeface="Helvetica"/>
              </a:rPr>
              <a:t>•  The fix must </a:t>
            </a:r>
            <a:r>
              <a:rPr sz="2000" b="1" i="0">
                <a:solidFill>
                  <a:srgbClr val="202020"/>
                </a:solidFill>
                <a:latin typeface="Helvetica"/>
              </a:rPr>
              <a:t>collapse bucket 0</a:t>
            </a:r>
            <a:r>
              <a:rPr sz="2000" b="0" i="0">
                <a:solidFill>
                  <a:srgbClr val="202020"/>
                </a:solidFill>
                <a:latin typeface="Helvetica"/>
              </a:rPr>
              <a:t> and shift mass to &gt; 1 (real batches).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